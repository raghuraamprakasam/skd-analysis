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SKD PRODUCTION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Passenger SKD vs Truck SKD</a:t>
            </a:r>
            <a:br/>
            <a:r>
              <a:t>Data Source: Rolling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Total: 10,857 Units | Pass: 9,113 | Truck: 1,744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18288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TOTAL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10,857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188720"/>
            <a:ext cx="3657600" cy="1828800"/>
          </a:xfrm>
          <a:prstGeom prst="rect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PASSENGER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9,113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83.9%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188720"/>
            <a:ext cx="3657600" cy="1828800"/>
          </a:xfrm>
          <a:prstGeom prst="rect">
            <a:avLst/>
          </a:prstGeom>
          <a:solidFill>
            <a:srgbClr val="E74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TRUCK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1,744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KEY INSIGHTS</a:t>
            </a:r>
          </a:p>
          <a:p>
            <a:pPr>
              <a:spcBef>
                <a:spcPts val="800"/>
              </a:spcBef>
              <a:defRPr sz="1300"/>
            </a:pPr>
            <a:r>
              <a:t>• Passenger SKD dominates with 9,113 units (83.9%)</a:t>
            </a:r>
          </a:p>
          <a:p>
            <a:pPr>
              <a:spcBef>
                <a:spcPts val="800"/>
              </a:spcBef>
              <a:defRPr sz="1300"/>
            </a:pPr>
            <a:r>
              <a:t>• Truck SKD accounts for 1,744 units (16.1%)</a:t>
            </a:r>
          </a:p>
          <a:p>
            <a:pPr>
              <a:spcBef>
                <a:spcPts val="800"/>
              </a:spcBef>
              <a:defRPr sz="1300"/>
            </a:pPr>
            <a:r>
              <a:t>• Passenger to Truck ratio is 5.2:1</a:t>
            </a:r>
          </a:p>
          <a:p>
            <a:pPr>
              <a:spcBef>
                <a:spcPts val="800"/>
              </a:spcBef>
              <a:defRPr sz="1300"/>
            </a:pPr>
            <a:r>
              <a:t>• Stage III dominates in both categories (~94%)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TOP 10 MODELS - COMPARISON</a:t>
            </a:r>
          </a:p>
        </p:txBody>
      </p:sp>
      <p:pic>
        <p:nvPicPr>
          <p:cNvPr id="4" name="Picture 3" descr="top1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6234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INTERPRETATION</a:t>
            </a:r>
          </a:p>
          <a:p>
            <a:pPr>
              <a:defRPr sz="1100"/>
            </a:pPr>
            <a:r>
              <a:t>• Highest Pass SKD: V6256809 (1,800) | Highest Truck SKD: V6553403 (360)</a:t>
            </a:r>
            <a:br/>
            <a:r>
              <a:t>• Top 10 Pass contribute 89.5% | Top 10 Truck contribute 87.2%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STAGE-WISE DISTRIBUTION</a:t>
            </a:r>
          </a:p>
        </p:txBody>
      </p:sp>
      <p:pic>
        <p:nvPicPr>
          <p:cNvPr id="4" name="Picture 3" descr="st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869469"/>
          </a:xfrm>
          <a:prstGeom prst="rect">
            <a:avLst/>
          </a:prstGeom>
        </p:spPr>
      </p:pic>
      <p:pic>
        <p:nvPicPr>
          <p:cNvPr id="5" name="Picture 4" descr="tot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029200" cy="5316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INTERPRETATION</a:t>
            </a:r>
          </a:p>
          <a:p>
            <a:pPr>
              <a:defRPr sz="1100"/>
            </a:pPr>
            <a:r>
              <a:t>• Stage III: Pass 93.0% | Truck 94.7%</a:t>
            </a:r>
            <a:br/>
            <a:r>
              <a:t>• Stage II significant in Truck SKD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ALL SKD MODELS - COMPLETE VIEW</a:t>
            </a:r>
          </a:p>
        </p:txBody>
      </p:sp>
      <p:pic>
        <p:nvPicPr>
          <p:cNvPr id="4" name="Picture 3" descr="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12793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05599"/>
                </a:solidFill>
              </a:defRPr>
            </a:pPr>
            <a:r>
              <a:t>Production Focus</a:t>
            </a:r>
          </a:p>
          <a:p>
            <a:pPr>
              <a:spcBef>
                <a:spcPts val="400"/>
              </a:spcBef>
              <a:defRPr sz="1300"/>
            </a:pPr>
            <a:r>
              <a:t>Passenger SKD (9,113 units) - 83.9% of total</a:t>
            </a:r>
          </a:p>
          <a:p>
            <a:pPr>
              <a:defRPr sz="1600" b="1">
                <a:solidFill>
                  <a:srgbClr val="005599"/>
                </a:solidFill>
              </a:defRPr>
            </a:pPr>
            <a:r>
              <a:t>Stage Optimization</a:t>
            </a:r>
          </a:p>
          <a:p>
            <a:pPr>
              <a:spcBef>
                <a:spcPts val="400"/>
              </a:spcBef>
              <a:defRPr sz="1300"/>
            </a:pPr>
            <a:r>
              <a:t>Stage III dominates (~94%) - complete build preference</a:t>
            </a:r>
          </a:p>
          <a:p>
            <a:pPr>
              <a:defRPr sz="1600" b="1">
                <a:solidFill>
                  <a:srgbClr val="005599"/>
                </a:solidFill>
              </a:defRPr>
            </a:pPr>
            <a:r>
              <a:t>Model Concentration</a:t>
            </a:r>
          </a:p>
          <a:p>
            <a:pPr>
              <a:spcBef>
                <a:spcPts val="400"/>
              </a:spcBef>
              <a:defRPr sz="1300"/>
            </a:pPr>
            <a:r>
              <a:t>Top 5 models contribute majority of production</a:t>
            </a:r>
          </a:p>
          <a:p>
            <a:pPr>
              <a:defRPr sz="1600" b="1">
                <a:solidFill>
                  <a:srgbClr val="005599"/>
                </a:solidFill>
              </a:defRPr>
            </a:pPr>
            <a:r>
              <a:t>Truck Potential</a:t>
            </a:r>
          </a:p>
          <a:p>
            <a:pPr>
              <a:spcBef>
                <a:spcPts val="400"/>
              </a:spcBef>
              <a:defRPr sz="1300"/>
            </a:pPr>
            <a:r>
              <a:t>Truck SKD - 16.1% of total, growth potential</a:t>
            </a:r>
          </a:p>
          <a:p>
            <a:pPr>
              <a:defRPr sz="1600" b="1">
                <a:solidFill>
                  <a:srgbClr val="005599"/>
                </a:solidFill>
              </a:defRPr>
            </a:pPr>
            <a:r>
              <a:t>Data Source</a:t>
            </a:r>
          </a:p>
          <a:p>
            <a:pPr>
              <a:spcBef>
                <a:spcPts val="400"/>
              </a:spcBef>
              <a:defRPr sz="1300"/>
            </a:pPr>
            <a:r>
              <a:t>Rolling Plan - Sheet3 (IO SKD models)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